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7E5F8EF-9307-4451-B698-D920A5D0F09E}">
          <p14:sldIdLst>
            <p14:sldId id="291"/>
            <p14:sldId id="281"/>
            <p14:sldId id="290"/>
            <p14:sldId id="293"/>
            <p14:sldId id="294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25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385332124_Toward_a_Generic_Framework_for_Mission_Planning_and_Execution_with_a_Heterogeneous_Multi-Robot_System" TargetMode="External"/><Relationship Id="rId3" Type="http://schemas.openxmlformats.org/officeDocument/2006/relationships/hyperlink" Target="https://www.researchgate.net/publication/384511724_FPGA-based_UAV_and_UGV_for_search_and_rescue_applications_A_case_study" TargetMode="External"/><Relationship Id="rId7" Type="http://schemas.openxmlformats.org/officeDocument/2006/relationships/hyperlink" Target="https://www.researchgate.net/publication/379973690_Distributed_Adaptive_Cooperative_Control_for_Human-in-the-Loop_Heterogeneous_UAV-UGV_Systems_with_Prescribed_Performanc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publication/382676934_A_LoRa-Based_Disaster_Management_System_for_Search_and_Rescue_Mission" TargetMode="External"/><Relationship Id="rId5" Type="http://schemas.openxmlformats.org/officeDocument/2006/relationships/hyperlink" Target="https://www.researchgate.net/publication/378025885_Thermal_Image_Tracking_for_Search_and_Rescue_Missions_with_a_Drone" TargetMode="External"/><Relationship Id="rId4" Type="http://schemas.openxmlformats.org/officeDocument/2006/relationships/hyperlink" Target="https://www.researchgate.net/publication/383265651_Camera-based_mapping_in_search-and-rescue_via_flying_and_ground_robot_teams" TargetMode="Externa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021118" y="171095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-391886" y="986173"/>
            <a:ext cx="12583886" cy="503420"/>
          </a:xfrm>
        </p:spPr>
        <p:txBody>
          <a:bodyPr/>
          <a:lstStyle/>
          <a:p>
            <a:r>
              <a:rPr lang="en-IN" sz="26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ROVION: </a:t>
            </a:r>
            <a:r>
              <a:rPr lang="en-IN" sz="2600" b="1" i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AI-Assisted Air-to-Ground Search and Rescue System</a:t>
            </a:r>
            <a:endParaRPr lang="en-IN" sz="2600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01340" y="-2136"/>
            <a:ext cx="10363200" cy="919861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3111" y="1331043"/>
            <a:ext cx="7495544" cy="47482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b="1" u="sng" dirty="0"/>
              <a:t>SIH26218</a:t>
            </a:r>
            <a:endParaRPr lang="en-US" sz="2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000" b="1" u="sng" dirty="0"/>
              <a:t>Student Innovation-There is a need to design drones and robots that can solve some of the pressing challenges of India such as handling medical emergencies, search and rescue operations, etc.</a:t>
            </a:r>
            <a:endParaRPr lang="en-US" sz="28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800" b="1" u="sng" dirty="0"/>
              <a:t>Robotics and Drones</a:t>
            </a:r>
            <a:endParaRPr lang="en-US" sz="36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b="1" u="sng" spc="3" dirty="0">
                <a:latin typeface="Arial Bold"/>
                <a:ea typeface="Arial Bold"/>
                <a:cs typeface="Arial Bold"/>
                <a:sym typeface="Arial Bold"/>
              </a:rPr>
              <a:t>155820</a:t>
            </a:r>
            <a:endParaRPr lang="en-US" sz="2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b="1" spc="3" dirty="0">
                <a:latin typeface="Arial Bold"/>
                <a:ea typeface="Arial Bold"/>
                <a:cs typeface="Arial Bold"/>
                <a:sym typeface="Arial Bold"/>
              </a:rPr>
              <a:t>ROVION SOLUTIONS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122C9F-8FDD-8CC8-91AA-9C74B165CEF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315686" y="4445852"/>
            <a:ext cx="11876314" cy="233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109736"/>
            <a:ext cx="10972800" cy="1143000"/>
          </a:xfrm>
        </p:spPr>
        <p:txBody>
          <a:bodyPr/>
          <a:lstStyle/>
          <a:p>
            <a:pPr eaLnBrk="1" hangingPunct="1"/>
            <a:r>
              <a:rPr lang="en-IN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ROVION: </a:t>
            </a:r>
            <a:r>
              <a:rPr lang="en-IN" sz="20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AI-Assisted Air-to-Ground Search and Rescue System</a:t>
            </a:r>
            <a:endParaRPr lang="en-US" sz="20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369B11-EADF-8A8B-436F-4AEDF8D76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686" y="1159168"/>
            <a:ext cx="5214258" cy="3618643"/>
          </a:xfrm>
        </p:spPr>
        <p:txBody>
          <a:bodyPr/>
          <a:lstStyle/>
          <a:p>
            <a:r>
              <a:rPr lang="en-IN" sz="2000" b="1" u="sng" dirty="0">
                <a:solidFill>
                  <a:srgbClr val="1F4E79"/>
                </a:solidFill>
              </a:rPr>
              <a:t>Problem:</a:t>
            </a:r>
          </a:p>
          <a:p>
            <a:pPr marL="0" indent="0">
              <a:buNone/>
            </a:pPr>
            <a:r>
              <a:rPr lang="en-US" sz="2000" dirty="0"/>
              <a:t>Landslides make rescue slow and risky. Survivors may be hidden in unstable areas where rescuers cannot enter immediately.</a:t>
            </a:r>
          </a:p>
          <a:p>
            <a:pPr marL="0" indent="0">
              <a:buNone/>
            </a:pPr>
            <a:endParaRPr lang="en-US" sz="900" dirty="0"/>
          </a:p>
          <a:p>
            <a:r>
              <a:rPr lang="en-IN" sz="2000" b="1" u="sng" dirty="0">
                <a:solidFill>
                  <a:srgbClr val="1F4E79"/>
                </a:solidFill>
              </a:rPr>
              <a:t>Our Idea:</a:t>
            </a:r>
          </a:p>
          <a:p>
            <a:pPr marL="0" indent="0">
              <a:buNone/>
            </a:pPr>
            <a:r>
              <a:rPr lang="en-US" sz="2000" dirty="0"/>
              <a:t>ROVION uses a drone to search first and a 6-wheel rover to check closely. It gives rescuers location, video and sensor data before they enter danger zones.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8" y="252246"/>
            <a:ext cx="131923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u="sng" dirty="0">
                <a:latin typeface="Arial" panose="020B0604020202020204" pitchFamily="34" charset="0"/>
                <a:cs typeface="Arial" panose="020B0604020202020204" pitchFamily="34" charset="0"/>
              </a:rPr>
              <a:t>ROVION</a:t>
            </a:r>
            <a:r>
              <a:rPr lang="en-IN" sz="1200" u="sng" dirty="0"/>
              <a:t> </a:t>
            </a:r>
            <a:r>
              <a:rPr lang="en-IN" sz="1250" u="sng" dirty="0"/>
              <a:t>SOLUTIONS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48ACF43-39C4-FE01-46BD-D427D91F77E0}"/>
              </a:ext>
            </a:extLst>
          </p:cNvPr>
          <p:cNvSpPr txBox="1"/>
          <p:nvPr/>
        </p:nvSpPr>
        <p:spPr>
          <a:xfrm>
            <a:off x="5866563" y="967208"/>
            <a:ext cx="6163373" cy="3901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u="sng" dirty="0">
                <a:solidFill>
                  <a:schemeClr val="tx2">
                    <a:lumMod val="75000"/>
                  </a:schemeClr>
                </a:solidFill>
              </a:rPr>
              <a:t>Proposed Solution: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  <a:defRPr sz="1700">
                <a:solidFill>
                  <a:srgbClr val="191919"/>
                </a:solidFill>
              </a:defRPr>
            </a:pPr>
            <a:r>
              <a:rPr lang="en-US" sz="1600" dirty="0"/>
              <a:t>• Drone scans the landslide area from above.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  <a:defRPr sz="1700">
                <a:solidFill>
                  <a:srgbClr val="191919"/>
                </a:solidFill>
              </a:defRPr>
            </a:pPr>
            <a:r>
              <a:rPr lang="en-US" sz="1600" dirty="0"/>
              <a:t>• AI marks possible survivors.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  <a:defRPr sz="1700">
                <a:solidFill>
                  <a:srgbClr val="191919"/>
                </a:solidFill>
              </a:defRPr>
            </a:pPr>
            <a:r>
              <a:rPr lang="en-US" sz="1600" dirty="0"/>
              <a:t>• Target location is sent to the rover.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  <a:defRPr sz="1700">
                <a:solidFill>
                  <a:srgbClr val="191919"/>
                </a:solidFill>
              </a:defRPr>
            </a:pPr>
            <a:r>
              <a:rPr lang="en-US" sz="1600" dirty="0"/>
              <a:t>• 6WD rover reaches the spot over rough ground.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  <a:defRPr sz="1700">
                <a:solidFill>
                  <a:srgbClr val="191919"/>
                </a:solidFill>
              </a:defRPr>
            </a:pPr>
            <a:r>
              <a:rPr lang="en-US" sz="1600" dirty="0"/>
              <a:t>• Camera/PIR checks closely and sends live data.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  <a:defRPr sz="1700">
                <a:solidFill>
                  <a:srgbClr val="191919"/>
                </a:solidFill>
              </a:defRPr>
            </a:pPr>
            <a:endParaRPr lang="en-US" sz="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u="sng" dirty="0">
                <a:solidFill>
                  <a:srgbClr val="1F4E79"/>
                </a:solidFill>
              </a:rPr>
              <a:t>Innovation / Uniqueness:</a:t>
            </a:r>
            <a:endParaRPr lang="en-IN" sz="1600" b="1" u="sng" dirty="0">
              <a:solidFill>
                <a:srgbClr val="1F4E79"/>
              </a:solidFill>
            </a:endParaRP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Wingdings" panose="05000000000000000000" pitchFamily="2" charset="2"/>
              <a:buChar char="ü"/>
              <a:defRPr sz="1700">
                <a:solidFill>
                  <a:srgbClr val="191919"/>
                </a:solidFill>
              </a:defRPr>
            </a:pPr>
            <a:r>
              <a:rPr lang="en-US" sz="1600" dirty="0"/>
              <a:t>• Fast aerial search + close ground confirmation.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Wingdings" panose="05000000000000000000" pitchFamily="2" charset="2"/>
              <a:buChar char="ü"/>
              <a:defRPr sz="1700">
                <a:solidFill>
                  <a:srgbClr val="191919"/>
                </a:solidFill>
              </a:defRPr>
            </a:pPr>
            <a:r>
              <a:rPr lang="en-US" sz="1600" dirty="0"/>
              <a:t>• Air-to-ground target handoff.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Wingdings" panose="05000000000000000000" pitchFamily="2" charset="2"/>
              <a:buChar char="ü"/>
              <a:defRPr sz="1700">
                <a:solidFill>
                  <a:srgbClr val="191919"/>
                </a:solidFill>
              </a:defRPr>
            </a:pPr>
            <a:r>
              <a:rPr lang="en-US" sz="1600" dirty="0"/>
              <a:t>• 6WD rover designed for rough terrain.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Wingdings" panose="05000000000000000000" pitchFamily="2" charset="2"/>
              <a:buChar char="ü"/>
              <a:defRPr sz="1700">
                <a:solidFill>
                  <a:srgbClr val="191919"/>
                </a:solidFill>
              </a:defRPr>
            </a:pPr>
            <a:r>
              <a:rPr lang="en-US" sz="1600" dirty="0"/>
              <a:t>• Human makes the final rescue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AAFCBE-DA1F-E41C-395A-7B31700ED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1011277"/>
            <a:ext cx="10386779" cy="53399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0208"/>
            <a:ext cx="147725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u="sng" dirty="0"/>
              <a:t>ROVION SOLUTIONS</a:t>
            </a:r>
            <a:endParaRPr lang="en-IN" sz="1400" u="sng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-23197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3911" y="120208"/>
            <a:ext cx="143371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u="sng" dirty="0"/>
              <a:t>ROVION SOLUTIONS </a:t>
            </a:r>
            <a:endParaRPr lang="en-IN" sz="1400" u="sng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-47626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0AFBC1-9F4D-D8C9-ED8A-6C704CAC5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322" y="936334"/>
            <a:ext cx="10668740" cy="541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B84184-B733-12D2-BEF0-AEB6898FE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494" y="1080152"/>
            <a:ext cx="10441411" cy="52869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6694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u="sng" dirty="0">
                <a:latin typeface="Arial" panose="020B0604020202020204" pitchFamily="34" charset="0"/>
                <a:cs typeface="Arial" panose="020B0604020202020204" pitchFamily="34" charset="0"/>
              </a:rPr>
              <a:t>ROVION SOLUTIONS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6286" y="-47625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1CDE30-8CC3-575E-3845-817C22A5D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0" y="995662"/>
            <a:ext cx="254000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" y="6534473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93041" y="1099180"/>
            <a:ext cx="11998959" cy="5386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i="1" u="sng" dirty="0"/>
              <a:t>1. Problem / Concept Validation:</a:t>
            </a:r>
          </a:p>
          <a:p>
            <a:pPr marL="342900" indent="-342900">
              <a:buAutoNum type="alphaLcParenR"/>
            </a:pPr>
            <a:r>
              <a:rPr lang="en-IN" sz="1400" b="1" u="sng" dirty="0"/>
              <a:t>. Huang et al. (2024) — UAV + UGV for Search and Rescue: </a:t>
            </a:r>
            <a:r>
              <a:rPr lang="en-IN" sz="1200" b="1" dirty="0"/>
              <a:t>FPGA-based UAV and UGV for Search and Rescue Applications: A Case Study</a:t>
            </a:r>
            <a:br>
              <a:rPr lang="en-IN" sz="1200" dirty="0"/>
            </a:br>
            <a:r>
              <a:rPr lang="en-IN" sz="1200" dirty="0"/>
              <a:t>This paper uses </a:t>
            </a:r>
            <a:r>
              <a:rPr lang="en-IN" sz="1200" b="1" dirty="0"/>
              <a:t>UAV + UGV + YOLO + RGB/thermal imaging</a:t>
            </a:r>
            <a:r>
              <a:rPr lang="en-IN" sz="1200" dirty="0"/>
              <a:t> for survivor detection, which strongly supports our overall ROVION architecture. </a:t>
            </a:r>
          </a:p>
          <a:p>
            <a:r>
              <a:rPr lang="en-IN" sz="1200" b="1" dirty="0"/>
              <a:t>          Link:</a:t>
            </a:r>
            <a:r>
              <a:rPr lang="en-IN" sz="1200" dirty="0"/>
              <a:t> </a:t>
            </a:r>
            <a:r>
              <a:rPr lang="en-IN" sz="1200" dirty="0">
                <a:hlinkClick r:id="rId3"/>
              </a:rPr>
              <a:t>https://www.researchgate.net/publication/384511724_FPGA-based_UAV_and_UGV_for_search_and_rescue_applications_A_case_study</a:t>
            </a:r>
            <a:r>
              <a:rPr lang="en-IN" sz="1200" dirty="0"/>
              <a:t> </a:t>
            </a:r>
          </a:p>
          <a:p>
            <a:pPr marL="342900" indent="-342900">
              <a:buAutoNum type="alphaLcParenR" startAt="2"/>
            </a:pPr>
            <a:r>
              <a:rPr lang="en-IN" sz="1400" b="1" u="sng" dirty="0"/>
              <a:t>Henriques et al. (2024) — Flying + Ground Robot Team: </a:t>
            </a:r>
            <a:r>
              <a:rPr lang="en-IN" sz="1200" b="1" dirty="0"/>
              <a:t>Camera-based Mapping in Search-and-Rescue via Flying and Ground Robot Teams</a:t>
            </a:r>
            <a:br>
              <a:rPr lang="en-IN" sz="1200" dirty="0"/>
            </a:br>
            <a:r>
              <a:rPr lang="en-IN" sz="1200" dirty="0"/>
              <a:t>This research combines </a:t>
            </a:r>
            <a:r>
              <a:rPr lang="en-IN" sz="1200" b="1" dirty="0"/>
              <a:t>flying and ground robots</a:t>
            </a:r>
            <a:r>
              <a:rPr lang="en-IN" sz="1200" dirty="0"/>
              <a:t> for victim localization, tracking, and terrain mapping. It directly supports our </a:t>
            </a:r>
            <a:r>
              <a:rPr lang="en-IN" sz="1200" b="1" dirty="0"/>
              <a:t>drone finds → rover checks</a:t>
            </a:r>
            <a:r>
              <a:rPr lang="en-IN" sz="1200" dirty="0"/>
              <a:t> workflow. </a:t>
            </a:r>
          </a:p>
          <a:p>
            <a:r>
              <a:rPr lang="en-IN" sz="1200" b="1" dirty="0"/>
              <a:t>          Link:</a:t>
            </a:r>
            <a:r>
              <a:rPr lang="en-IN" sz="1200" dirty="0"/>
              <a:t> </a:t>
            </a:r>
            <a:r>
              <a:rPr lang="en-IN" sz="1200" dirty="0">
                <a:hlinkClick r:id="rId4"/>
              </a:rPr>
              <a:t>https://www.researchgate.net/publication/383265651_Camera-based_mapping_in_search-and-rescue_via_flying_and_ground_robot_teams</a:t>
            </a:r>
            <a:r>
              <a:rPr lang="en-IN" sz="1200" dirty="0"/>
              <a:t> </a:t>
            </a:r>
          </a:p>
          <a:p>
            <a:endParaRPr lang="en-IN" sz="800" dirty="0"/>
          </a:p>
          <a:p>
            <a:r>
              <a:rPr lang="en-IN" b="1" i="1" u="sng" dirty="0"/>
              <a:t>2. Technical Feasibility:</a:t>
            </a:r>
          </a:p>
          <a:p>
            <a:pPr marL="228600" indent="-228600">
              <a:buAutoNum type="alphaLcParenR"/>
            </a:pPr>
            <a:r>
              <a:rPr lang="en-IN" sz="1400" b="1" dirty="0"/>
              <a:t>  </a:t>
            </a:r>
            <a:r>
              <a:rPr lang="en-IN" sz="1400" b="1" u="sng" dirty="0"/>
              <a:t>Yeom (2024) — Thermal Drone Human Detection: </a:t>
            </a:r>
            <a:r>
              <a:rPr lang="en-IN" sz="1200" b="1" dirty="0"/>
              <a:t>Thermal Image Tracking for Search and Rescue Missions with a Drone</a:t>
            </a:r>
            <a:br>
              <a:rPr lang="en-IN" sz="1200" dirty="0"/>
            </a:br>
            <a:r>
              <a:rPr lang="en-IN" sz="1200" dirty="0"/>
              <a:t>  The study uses </a:t>
            </a:r>
            <a:r>
              <a:rPr lang="en-IN" sz="1200" b="1" dirty="0"/>
              <a:t>thermal imaging + YOLO</a:t>
            </a:r>
            <a:r>
              <a:rPr lang="en-IN" sz="1200" dirty="0"/>
              <a:t> to detect and track people during search-and-rescue missions. This supports our </a:t>
            </a:r>
            <a:r>
              <a:rPr lang="en-IN" sz="1200" b="1" dirty="0"/>
              <a:t>6-wing drone with a thermal camera.</a:t>
            </a:r>
          </a:p>
          <a:p>
            <a:r>
              <a:rPr lang="en-IN" sz="1200" b="1" dirty="0"/>
              <a:t>         Link:</a:t>
            </a:r>
            <a:r>
              <a:rPr lang="en-IN" sz="1200" dirty="0"/>
              <a:t> </a:t>
            </a:r>
            <a:r>
              <a:rPr lang="en-IN" sz="1200" dirty="0">
                <a:hlinkClick r:id="rId5"/>
              </a:rPr>
              <a:t>https://www.researchgate.net/publication/378025885_Thermal_Image_Tracking_for_Search_and_Rescue_Missions_with_a_Drone</a:t>
            </a:r>
            <a:r>
              <a:rPr lang="en-IN" sz="1200" dirty="0"/>
              <a:t> </a:t>
            </a:r>
          </a:p>
          <a:p>
            <a:pPr marL="342900" indent="-342900">
              <a:buAutoNum type="alphaLcParenR" startAt="2"/>
            </a:pPr>
            <a:r>
              <a:rPr lang="en-IN" sz="1400" b="1" u="sng" dirty="0"/>
              <a:t>Manuel et al. (2024) — LoRa Disaster Communication: </a:t>
            </a:r>
            <a:r>
              <a:rPr lang="en-IN" sz="1200" b="1" dirty="0"/>
              <a:t>A LoRa-Based Disaster Management System for Search and Rescue Mission</a:t>
            </a:r>
            <a:br>
              <a:rPr lang="en-IN" sz="1200" dirty="0"/>
            </a:br>
            <a:r>
              <a:rPr lang="en-IN" sz="1200" dirty="0"/>
              <a:t>This research studies </a:t>
            </a:r>
            <a:r>
              <a:rPr lang="en-IN" sz="1200" b="1" dirty="0"/>
              <a:t>LoRa-based communication for SAR robots</a:t>
            </a:r>
            <a:r>
              <a:rPr lang="en-IN" sz="1200" dirty="0"/>
              <a:t> when normal communication infrastructure may be damaged. This supports our drone</a:t>
            </a:r>
            <a:r>
              <a:rPr lang="en-IN" sz="1200" b="1" dirty="0"/>
              <a:t>–rover–operator telemetry link</a:t>
            </a:r>
            <a:r>
              <a:rPr lang="en-IN" sz="1200" dirty="0"/>
              <a:t>.</a:t>
            </a:r>
          </a:p>
          <a:p>
            <a:r>
              <a:rPr lang="en-IN" sz="1200" b="1" dirty="0"/>
              <a:t>          Link:</a:t>
            </a:r>
            <a:r>
              <a:rPr lang="en-IN" sz="1200" dirty="0"/>
              <a:t> </a:t>
            </a:r>
            <a:r>
              <a:rPr lang="en-IN" sz="1200" dirty="0">
                <a:hlinkClick r:id="rId6"/>
              </a:rPr>
              <a:t>https://www.researchgate.net/publication/382676934_A_LoRa-Based_Disaster_Management_System_for_Search_and_Rescue_Mission</a:t>
            </a:r>
            <a:r>
              <a:rPr lang="en-IN" sz="1200" dirty="0"/>
              <a:t> </a:t>
            </a:r>
          </a:p>
          <a:p>
            <a:endParaRPr lang="en-IN" sz="800" dirty="0"/>
          </a:p>
          <a:p>
            <a:r>
              <a:rPr lang="en-IN" sz="1600" b="1" u="sng" dirty="0"/>
              <a:t>3. Design &amp; Application Validation:</a:t>
            </a:r>
          </a:p>
          <a:p>
            <a:pPr marL="228600" indent="-228600">
              <a:buFont typeface="+mj-lt"/>
              <a:buAutoNum type="alphaLcParenR"/>
            </a:pPr>
            <a:r>
              <a:rPr lang="en-IN" sz="1200" b="1" dirty="0"/>
              <a:t>  </a:t>
            </a:r>
            <a:r>
              <a:rPr lang="en-IN" sz="1400" b="1" u="sng" dirty="0"/>
              <a:t>Human-in-the-Loop UAV–UGV Coordination 2024 — </a:t>
            </a:r>
            <a:r>
              <a:rPr lang="en-IN" sz="1400" b="1" i="1" u="sng" dirty="0"/>
              <a:t>Distributed Adaptive Cooperative Control for Human-in-the-Loop Heterogeneous UAV-UGV Systems.</a:t>
            </a:r>
          </a:p>
          <a:p>
            <a:r>
              <a:rPr lang="en-IN" sz="1200" b="1" i="1" dirty="0"/>
              <a:t>         </a:t>
            </a:r>
            <a:r>
              <a:rPr lang="en-IN" sz="1200" dirty="0"/>
              <a:t>This IEEE research specifically studies </a:t>
            </a:r>
            <a:r>
              <a:rPr lang="en-IN" sz="1200" b="1" dirty="0"/>
              <a:t>UAV + UGV coordination while keeping a human in the control loop</a:t>
            </a:r>
            <a:r>
              <a:rPr lang="en-IN" sz="1200" dirty="0"/>
              <a:t>, which matches our decision to keep final rescue decisions with the operator</a:t>
            </a:r>
          </a:p>
          <a:p>
            <a:r>
              <a:rPr lang="en-IN" sz="1200" dirty="0"/>
              <a:t> rather than making the system fully autonomous.</a:t>
            </a:r>
          </a:p>
          <a:p>
            <a:r>
              <a:rPr lang="en-IN" sz="1200" b="1" dirty="0"/>
              <a:t>Link:</a:t>
            </a:r>
            <a:r>
              <a:rPr lang="en-IN" sz="1200" dirty="0"/>
              <a:t> </a:t>
            </a:r>
            <a:r>
              <a:rPr lang="en-IN" sz="1200" dirty="0">
                <a:hlinkClick r:id="rId7"/>
              </a:rPr>
              <a:t>https://www.researchgate.net/publication/379973690_Distributed_Adaptive_Cooperative_Control_for_Human-in-the-Loop_Heterogeneous_UAV-UGV_Systems_with_Prescribed_Performance</a:t>
            </a:r>
            <a:r>
              <a:rPr lang="en-IN" sz="1200" dirty="0"/>
              <a:t> </a:t>
            </a:r>
          </a:p>
          <a:p>
            <a:endParaRPr lang="en-IN" sz="1200" dirty="0"/>
          </a:p>
          <a:p>
            <a:r>
              <a:rPr lang="en-IN" sz="1200" b="1" dirty="0"/>
              <a:t>b)    </a:t>
            </a:r>
            <a:r>
              <a:rPr lang="en-IN" sz="1400" b="1" u="sng" dirty="0"/>
              <a:t>  Multi-Robot Mission Planning : 2024 — </a:t>
            </a:r>
            <a:r>
              <a:rPr lang="en-IN" sz="1400" b="1" i="1" u="sng" dirty="0"/>
              <a:t>Toward a Generic Framework for Mission Planning and Execution with a Heterogeneous Multi-Robot System</a:t>
            </a:r>
            <a:endParaRPr lang="en-IN" sz="1400" b="1" u="sng" dirty="0"/>
          </a:p>
          <a:p>
            <a:r>
              <a:rPr lang="en-IN" sz="1200" dirty="0"/>
              <a:t>          This work deals with </a:t>
            </a:r>
            <a:r>
              <a:rPr lang="en-IN" sz="1200" b="1" dirty="0"/>
              <a:t>coordinating UAVs and UGVs in dynamic and unstructured environments</a:t>
            </a:r>
            <a:r>
              <a:rPr lang="en-IN" sz="1200" dirty="0"/>
              <a:t>. That supports our system architecture where the drone and rover have different roles but work toward one rescue mission.</a:t>
            </a:r>
          </a:p>
          <a:p>
            <a:r>
              <a:rPr lang="en-IN" sz="1200" b="1" dirty="0"/>
              <a:t>Link :</a:t>
            </a:r>
            <a:r>
              <a:rPr lang="en-IN" sz="1200" dirty="0"/>
              <a:t> </a:t>
            </a:r>
            <a:r>
              <a:rPr lang="en-IN" sz="1200" dirty="0">
                <a:hlinkClick r:id="rId8"/>
              </a:rPr>
              <a:t>https://www.researchgate.net/publication/385332124_Toward_a_Generic_Framework_for_Mission_Planning_and_Execution_with_a_Heterogeneous_Multi-Robot_System</a:t>
            </a:r>
            <a:r>
              <a:rPr lang="en-IN" sz="1200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85270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u="sng" dirty="0">
                <a:latin typeface="Arial" panose="020B0604020202020204" pitchFamily="34" charset="0"/>
                <a:cs typeface="Arial" panose="020B0604020202020204" pitchFamily="34" charset="0"/>
              </a:rPr>
              <a:t>ROVION SOLUTION</a:t>
            </a:r>
            <a:endParaRPr lang="en-IN" sz="105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8649</TotalTime>
  <Words>831</Words>
  <Application>Microsoft Office PowerPoint</Application>
  <PresentationFormat>Widescreen</PresentationFormat>
  <Paragraphs>72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Arial Bold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ROVION: AI-Assisted Air-to-Ground Search and Rescue System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Gowtham Arul</cp:lastModifiedBy>
  <cp:revision>151</cp:revision>
  <dcterms:created xsi:type="dcterms:W3CDTF">2013-12-12T18:46:50Z</dcterms:created>
  <dcterms:modified xsi:type="dcterms:W3CDTF">2026-09-28T14:28:57Z</dcterms:modified>
  <cp:category/>
</cp:coreProperties>
</file>